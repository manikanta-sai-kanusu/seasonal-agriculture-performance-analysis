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49" r:id="rId7"/>
    <p:sldId id="315" r:id="rId8"/>
    <p:sldId id="329" r:id="rId9"/>
    <p:sldId id="302" r:id="rId10"/>
    <p:sldId id="347" r:id="rId11"/>
    <p:sldId id="339" r:id="rId12"/>
    <p:sldId id="340" r:id="rId13"/>
    <p:sldId id="344" r:id="rId14"/>
    <p:sldId id="345" r:id="rId15"/>
    <p:sldId id="346" r:id="rId16"/>
    <p:sldId id="350" r:id="rId17"/>
    <p:sldId id="341" r:id="rId18"/>
    <p:sldId id="348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1DE9-3BBC-E82E-6FE7-4960D51A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0BCB5-F4E6-734E-E168-26B40F43B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9503D-5099-004E-1866-04375ABF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887A2-24F3-2A14-289E-BEAA33E84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4332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57060"/>
            <a:ext cx="8663986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0" dirty="0">
                <a:solidFill>
                  <a:schemeClr val="tx1"/>
                </a:solidFill>
              </a:rPr>
              <a:t>Student Name-Kanusu Manikanta Sai </a:t>
            </a:r>
            <a:endParaRPr lang="en-IN" sz="2400" b="0" dirty="0">
              <a:solidFill>
                <a:schemeClr val="tx1"/>
              </a:solidFill>
            </a:endParaRPr>
          </a:p>
          <a:p>
            <a:r>
              <a:rPr lang="en-US" sz="2400" b="0" dirty="0">
                <a:solidFill>
                  <a:schemeClr val="tx1"/>
                </a:solidFill>
              </a:rPr>
              <a:t>College Name-Amrita Vishwa Vidyapeetham, Bengaluru</a:t>
            </a:r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883889" cy="743448"/>
          </a:xfrm>
        </p:spPr>
        <p:txBody>
          <a:bodyPr>
            <a:normAutofit fontScale="90000"/>
          </a:bodyPr>
          <a:lstStyle/>
          <a:p>
            <a:r>
              <a:rPr lang="en-GB" sz="3000" b="1" dirty="0"/>
              <a:t>Project Title - Seasonal Agriculture Performance Analysis </a:t>
            </a:r>
            <a:endParaRPr lang="en-IN" sz="30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557808"/>
            <a:ext cx="7161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AICTE STU ID :</a:t>
            </a:r>
            <a:r>
              <a:rPr lang="en-US" sz="2000" dirty="0"/>
              <a:t> STU6a6cc7a5a25d11785513893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8137" y="1340528"/>
            <a:ext cx="7588533" cy="532443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19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B8C52-DFC8-0CCE-F3B2-A0136658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100234-1CDE-9402-40B9-7351BA0E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480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494F9-9F7C-6B8C-60B6-1139372F7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CCEAC4-9ECE-06DD-D722-119323AD8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2A014F-7BE8-EC29-E2C7-B21AEF0BD3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604688"/>
            <a:ext cx="6026747" cy="41132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400" dirty="0"/>
              <a:t>The </a:t>
            </a:r>
            <a:r>
              <a:rPr lang="en-IN" sz="2400" b="1" dirty="0"/>
              <a:t>Seasonal Agriculture Performance Analysis</a:t>
            </a:r>
            <a:r>
              <a:rPr lang="en-IN" sz="2400" dirty="0"/>
              <a:t> project uses data analytics to study how agricultural performance changes across different seasons. The dataset contains information related to </a:t>
            </a:r>
            <a:r>
              <a:rPr lang="en-IN" sz="2400" b="1" dirty="0"/>
              <a:t>crops, geographical areas, environmental conditions, farming practices, resource usage, production, and economic performance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9725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480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17527E6-B4C4-74A1-7F9B-59BEDFB93C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253" y="1318466"/>
            <a:ext cx="8048620" cy="38630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400" dirty="0"/>
              <a:t>The project involves </a:t>
            </a:r>
            <a:r>
              <a:rPr lang="en-IN" sz="2400" b="1" dirty="0"/>
              <a:t>data exploration, data cleaning, preprocessing, visualization, statistical analysis, and interpretation</a:t>
            </a:r>
            <a:r>
              <a:rPr lang="en-IN" sz="2400" dirty="0"/>
              <a:t>. Agricultural performance is </a:t>
            </a:r>
            <a:r>
              <a:rPr lang="en-IN" sz="2400" dirty="0" err="1"/>
              <a:t>analyzed</a:t>
            </a:r>
            <a:r>
              <a:rPr lang="en-IN" sz="2400" dirty="0"/>
              <a:t> and compared across seasons to identify differences in crop productivity, resource consumption, environmental conditions, operating costs, and profitability.</a:t>
            </a:r>
          </a:p>
          <a:p>
            <a:endParaRPr lang="en-IN" sz="2400" dirty="0"/>
          </a:p>
          <a:p>
            <a:r>
              <a:rPr lang="en-IN" sz="2400" dirty="0"/>
              <a:t>The analysis helps identify </a:t>
            </a:r>
            <a:r>
              <a:rPr lang="en-IN" sz="2400" b="1" dirty="0"/>
              <a:t>important seasonal trends, relationships, variations, and unusual patterns</a:t>
            </a:r>
            <a:r>
              <a:rPr lang="en-IN" sz="2400" dirty="0"/>
              <a:t> and provides data-driven insights that can support </a:t>
            </a:r>
            <a:r>
              <a:rPr lang="en-IN" sz="2400" b="1" dirty="0"/>
              <a:t>better agricultural planning, resource management, and decision-making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2041071"/>
            <a:ext cx="7904481" cy="413573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600" b="1" dirty="0"/>
              <a:t>Farmers</a:t>
            </a:r>
            <a:r>
              <a:rPr lang="en-IN" sz="3600" dirty="0"/>
              <a:t> – To understand seasonal crop performance and improve farming practices.</a:t>
            </a:r>
          </a:p>
          <a:p>
            <a:pPr lvl="0"/>
            <a:r>
              <a:rPr lang="en-IN" sz="3600" b="1" dirty="0"/>
              <a:t>Agricultural Planners and Agronomists</a:t>
            </a:r>
            <a:r>
              <a:rPr lang="en-IN" sz="3600" dirty="0"/>
              <a:t> – To </a:t>
            </a:r>
            <a:r>
              <a:rPr lang="en-IN" sz="3600" dirty="0" err="1"/>
              <a:t>analyze</a:t>
            </a:r>
            <a:r>
              <a:rPr lang="en-IN" sz="3600" dirty="0"/>
              <a:t> seasonal trends and agricultural outcomes.</a:t>
            </a:r>
          </a:p>
          <a:p>
            <a:pPr lvl="0"/>
            <a:r>
              <a:rPr lang="en-IN" sz="3600" b="1" dirty="0"/>
              <a:t>Government and Agricultural Departments</a:t>
            </a:r>
            <a:r>
              <a:rPr lang="en-IN" sz="3600" dirty="0"/>
              <a:t> – To support agricultural planning and policy decisions.</a:t>
            </a:r>
          </a:p>
          <a:p>
            <a:pPr lvl="0"/>
            <a:r>
              <a:rPr lang="en-IN" sz="3600" b="1" dirty="0"/>
              <a:t>Water Resource Managers</a:t>
            </a:r>
            <a:r>
              <a:rPr lang="en-IN" sz="3600" dirty="0"/>
              <a:t> – To understand seasonal water usage and irrigation requirements.</a:t>
            </a:r>
          </a:p>
          <a:p>
            <a:pPr lvl="0"/>
            <a:r>
              <a:rPr lang="en-IN" sz="3600" b="1" dirty="0"/>
              <a:t>Agricultural Researchers</a:t>
            </a:r>
            <a:r>
              <a:rPr lang="en-IN" sz="3600" dirty="0"/>
              <a:t> – To study relationships between environmental conditions and agricultural performance.</a:t>
            </a:r>
          </a:p>
          <a:p>
            <a:pPr lvl="0"/>
            <a:r>
              <a:rPr lang="en-IN" sz="3600" b="1" dirty="0"/>
              <a:t>Agri-businesses and Cooperatives</a:t>
            </a:r>
            <a:r>
              <a:rPr lang="en-IN" sz="3600" dirty="0"/>
              <a:t> – To evaluate production, costs, and seasonal profitability.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4559" y="1278384"/>
            <a:ext cx="6417597" cy="55280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Programming and Development</a:t>
            </a:r>
          </a:p>
          <a:p>
            <a:pPr lvl="0"/>
            <a:r>
              <a:rPr lang="en-IN" sz="2200" dirty="0"/>
              <a:t>Python</a:t>
            </a:r>
          </a:p>
          <a:p>
            <a:pPr lvl="0"/>
            <a:r>
              <a:rPr lang="en-IN" sz="2200" dirty="0"/>
              <a:t>Jupyter Notebook</a:t>
            </a:r>
          </a:p>
          <a:p>
            <a:pPr marL="0" indent="0">
              <a:buNone/>
            </a:pPr>
            <a:r>
              <a:rPr lang="en-IN" sz="2200" b="1" dirty="0"/>
              <a:t>Data Analysis</a:t>
            </a:r>
          </a:p>
          <a:p>
            <a:pPr lvl="0"/>
            <a:r>
              <a:rPr lang="en-IN" sz="2200" dirty="0"/>
              <a:t>Pandas</a:t>
            </a:r>
          </a:p>
          <a:p>
            <a:pPr lvl="0"/>
            <a:r>
              <a:rPr lang="en-IN" sz="2200" dirty="0"/>
              <a:t>NumPy</a:t>
            </a:r>
          </a:p>
          <a:p>
            <a:pPr marL="0" indent="0">
              <a:buNone/>
            </a:pPr>
            <a:r>
              <a:rPr lang="en-IN" sz="2200" b="1" dirty="0"/>
              <a:t>Data Visualization</a:t>
            </a:r>
          </a:p>
          <a:p>
            <a:pPr lvl="0"/>
            <a:r>
              <a:rPr lang="en-IN" sz="2200" dirty="0"/>
              <a:t>Matplotlib</a:t>
            </a:r>
          </a:p>
          <a:p>
            <a:pPr lvl="0"/>
            <a:r>
              <a:rPr lang="en-IN" sz="2200" dirty="0"/>
              <a:t>Seaborn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AB1DE-3AF0-8A42-B8B1-9AEC94E6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BEBBF9-9C6D-0579-4DFA-E6A85356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7BC020-790C-2A97-0DB9-3550C00C4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24BAF9-76D4-98E8-D5C4-573E463A15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5843" y="1278384"/>
            <a:ext cx="8341847" cy="5428169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b="1" dirty="0"/>
              <a:t>Statistical Analysis</a:t>
            </a:r>
          </a:p>
          <a:p>
            <a:pPr lvl="0"/>
            <a:r>
              <a:rPr lang="en-IN" dirty="0"/>
              <a:t>SciPy</a:t>
            </a:r>
          </a:p>
          <a:p>
            <a:pPr lvl="0"/>
            <a:r>
              <a:rPr lang="en-IN" dirty="0"/>
              <a:t>Statistical models</a:t>
            </a:r>
          </a:p>
          <a:p>
            <a:pPr lvl="0"/>
            <a:r>
              <a:rPr lang="en-IN" dirty="0"/>
              <a:t>ANOVA</a:t>
            </a:r>
          </a:p>
          <a:p>
            <a:pPr lvl="0"/>
            <a:r>
              <a:rPr lang="en-IN" dirty="0"/>
              <a:t>Kruskal-Wallis Test</a:t>
            </a:r>
          </a:p>
          <a:p>
            <a:pPr lvl="0"/>
            <a:r>
              <a:rPr lang="en-IN" dirty="0"/>
              <a:t>Tukey HSD</a:t>
            </a:r>
          </a:p>
          <a:p>
            <a:pPr lvl="0"/>
            <a:r>
              <a:rPr lang="en-IN" dirty="0"/>
              <a:t>Mann-Whitney U Test</a:t>
            </a:r>
          </a:p>
          <a:p>
            <a:pPr lvl="0"/>
            <a:r>
              <a:rPr lang="en-IN" dirty="0"/>
              <a:t>Effect Size Analysis</a:t>
            </a:r>
          </a:p>
          <a:p>
            <a:pPr marL="0" lvl="0" indent="0">
              <a:buNone/>
            </a:pPr>
            <a:endParaRPr lang="en-IN" b="1" dirty="0"/>
          </a:p>
          <a:p>
            <a:pPr marL="0" lvl="0" indent="0">
              <a:buNone/>
            </a:pPr>
            <a:endParaRPr lang="en-IN" b="1" dirty="0"/>
          </a:p>
          <a:p>
            <a:pPr marL="0" lvl="0" indent="0">
              <a:buNone/>
            </a:pPr>
            <a:r>
              <a:rPr lang="en-IN" b="1" dirty="0"/>
              <a:t>Data Processing</a:t>
            </a:r>
          </a:p>
          <a:p>
            <a:pPr lvl="0"/>
            <a:r>
              <a:rPr lang="en-IN" dirty="0"/>
              <a:t>Data Cleaning and Preprocessing</a:t>
            </a:r>
          </a:p>
          <a:p>
            <a:pPr lvl="0"/>
            <a:r>
              <a:rPr lang="en-IN" dirty="0"/>
              <a:t>Feature Engineering</a:t>
            </a:r>
          </a:p>
          <a:p>
            <a:pPr lvl="0"/>
            <a:r>
              <a:rPr lang="en-IN" dirty="0"/>
              <a:t>Outlier Detection using IQR and Modified Z-Score</a:t>
            </a:r>
          </a:p>
          <a:p>
            <a:pPr marL="0" indent="0">
              <a:buNone/>
            </a:pPr>
            <a:r>
              <a:rPr lang="en-IN" b="1" dirty="0"/>
              <a:t>Dataset</a:t>
            </a:r>
          </a:p>
          <a:p>
            <a:pPr lvl="0"/>
            <a:r>
              <a:rPr lang="en-IN" dirty="0"/>
              <a:t>Seasonal agricultural data containing crop, environmental, resource, production, and economic attributes.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2050495-B8B0-CD8D-DE42-BD5E3941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27364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FACD1C-ECAC-6FCC-4EBD-A40BD42F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49118" b="50000"/>
          <a:stretch>
            <a:fillRect/>
          </a:stretch>
        </p:blipFill>
        <p:spPr>
          <a:xfrm>
            <a:off x="340984" y="1366936"/>
            <a:ext cx="4398968" cy="4455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1A3287-6633-BE0B-E8B6-8A75FF21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10" t="49910"/>
          <a:stretch>
            <a:fillRect/>
          </a:stretch>
        </p:blipFill>
        <p:spPr>
          <a:xfrm>
            <a:off x="5290457" y="1371601"/>
            <a:ext cx="4571999" cy="45020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97C16-E98D-1D68-8FDC-931E0600D664}"/>
              </a:ext>
            </a:extLst>
          </p:cNvPr>
          <p:cNvSpPr txBox="1"/>
          <p:nvPr/>
        </p:nvSpPr>
        <p:spPr>
          <a:xfrm>
            <a:off x="675956" y="5822304"/>
            <a:ext cx="4063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Box plot of Yield (Tonnes/Ha) across Kharif, Rabi, and Zaid seasons showing extreme high-value outliers.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10AA4-2504-6587-2DBB-70D96021C1A6}"/>
              </a:ext>
            </a:extLst>
          </p:cNvPr>
          <p:cNvSpPr txBox="1"/>
          <p:nvPr/>
        </p:nvSpPr>
        <p:spPr>
          <a:xfrm>
            <a:off x="5290457" y="5822304"/>
            <a:ext cx="457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Violin plot of Net Profit (INR) across seasons highlighting distribution density and a red dashed break-even line (0 INR).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CBA495-6A60-126C-95E3-D6C64882C4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494" b="50092"/>
          <a:stretch>
            <a:fillRect/>
          </a:stretch>
        </p:blipFill>
        <p:spPr>
          <a:xfrm>
            <a:off x="341358" y="1539473"/>
            <a:ext cx="4502021" cy="41148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AD0B17-18D9-6090-3E04-BEAE2629A8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96" r="32662" b="50092"/>
          <a:stretch>
            <a:fillRect/>
          </a:stretch>
        </p:blipFill>
        <p:spPr>
          <a:xfrm>
            <a:off x="5141933" y="1539473"/>
            <a:ext cx="4413380" cy="41148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4A0BFC-9583-C368-8F55-19AFC5F83327}"/>
              </a:ext>
            </a:extLst>
          </p:cNvPr>
          <p:cNvSpPr txBox="1"/>
          <p:nvPr/>
        </p:nvSpPr>
        <p:spPr>
          <a:xfrm>
            <a:off x="675957" y="5728997"/>
            <a:ext cx="4042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Box plot of Seasonal Rainfall (mm) showing median, interquartile range (IQR), and mean markers.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50CE3B-00FC-9760-5FC7-EFD2978A333D}"/>
              </a:ext>
            </a:extLst>
          </p:cNvPr>
          <p:cNvSpPr txBox="1"/>
          <p:nvPr/>
        </p:nvSpPr>
        <p:spPr>
          <a:xfrm>
            <a:off x="5219785" y="5728997"/>
            <a:ext cx="4257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Box plot of Seasonal Average Temperature (°C) across Kharif, Rabi, and Zaid.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498B0-7136-C0B3-AA5E-34D98CB4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66310"/>
          <a:stretch>
            <a:fillRect/>
          </a:stretch>
        </p:blipFill>
        <p:spPr>
          <a:xfrm>
            <a:off x="143046" y="1517661"/>
            <a:ext cx="4516094" cy="4172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86C03-6EDE-A38F-4092-125CB9A518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10" b="50090"/>
          <a:stretch>
            <a:fillRect/>
          </a:stretch>
        </p:blipFill>
        <p:spPr>
          <a:xfrm>
            <a:off x="5340291" y="1571517"/>
            <a:ext cx="4268754" cy="40651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ED1D08-B62F-83C0-8EE2-D43CCC796C44}"/>
              </a:ext>
            </a:extLst>
          </p:cNvPr>
          <p:cNvSpPr txBox="1"/>
          <p:nvPr/>
        </p:nvSpPr>
        <p:spPr>
          <a:xfrm>
            <a:off x="531845" y="5741630"/>
            <a:ext cx="4127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Bar chart showing Mean Water Consumed per Farm (m³) across Kharif, Rabi, and Zaid.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3A20CD-ED70-16F1-E321-2795373D99E7}"/>
              </a:ext>
            </a:extLst>
          </p:cNvPr>
          <p:cNvSpPr txBox="1"/>
          <p:nvPr/>
        </p:nvSpPr>
        <p:spPr>
          <a:xfrm>
            <a:off x="5340291" y="5741630"/>
            <a:ext cx="4268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Scatter plot and non-linear regression curve for Water Volume (m³) vs. Water Efficiency (t / 1,000m³).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60C90-6709-4A4B-B32E-76AB2CED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06" r="33385"/>
          <a:stretch>
            <a:fillRect/>
          </a:stretch>
        </p:blipFill>
        <p:spPr>
          <a:xfrm>
            <a:off x="302312" y="1275371"/>
            <a:ext cx="4297671" cy="4565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6FA81-BCB3-58F3-DEA7-5FA8CE62E6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917"/>
          <a:stretch>
            <a:fillRect/>
          </a:stretch>
        </p:blipFill>
        <p:spPr>
          <a:xfrm>
            <a:off x="4940559" y="1398129"/>
            <a:ext cx="4931229" cy="4320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49E16-51DF-53C4-55D9-9417E9B886DE}"/>
              </a:ext>
            </a:extLst>
          </p:cNvPr>
          <p:cNvSpPr txBox="1"/>
          <p:nvPr/>
        </p:nvSpPr>
        <p:spPr>
          <a:xfrm>
            <a:off x="675958" y="5718203"/>
            <a:ext cx="3924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Bar chart illustrating the percentage of loss-making farms (Profit &lt; 0) across seasons.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AEF2B-120A-56DF-4A0F-0D4E1612B092}"/>
              </a:ext>
            </a:extLst>
          </p:cNvPr>
          <p:cNvSpPr txBox="1"/>
          <p:nvPr/>
        </p:nvSpPr>
        <p:spPr>
          <a:xfrm>
            <a:off x="5248275" y="5762826"/>
            <a:ext cx="3924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State × Season interaction heatmap displaying mean agricultural yields (t/ha).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712388-F321-BC92-0EB5-22CE6316D1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9"/>
          <a:stretch>
            <a:fillRect/>
          </a:stretch>
        </p:blipFill>
        <p:spPr>
          <a:xfrm>
            <a:off x="320982" y="1444395"/>
            <a:ext cx="4968551" cy="4222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2BEA0-904B-0534-C4FF-B845447F36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32"/>
          <a:stretch>
            <a:fillRect/>
          </a:stretch>
        </p:blipFill>
        <p:spPr>
          <a:xfrm>
            <a:off x="5397812" y="1354012"/>
            <a:ext cx="4582886" cy="43125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58A575-18EA-7A75-5929-C6B3798235CD}"/>
              </a:ext>
            </a:extLst>
          </p:cNvPr>
          <p:cNvSpPr txBox="1"/>
          <p:nvPr/>
        </p:nvSpPr>
        <p:spPr>
          <a:xfrm>
            <a:off x="675958" y="5666606"/>
            <a:ext cx="3821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Factorial interaction line plot comparing mean yields (t/ha) of eight crops across Kharif, Rabi, and Zaid.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6DC29-F846-CF3B-2DD5-13AB7AC96C99}"/>
              </a:ext>
            </a:extLst>
          </p:cNvPr>
          <p:cNvSpPr txBox="1"/>
          <p:nvPr/>
        </p:nvSpPr>
        <p:spPr>
          <a:xfrm>
            <a:off x="5397812" y="5666605"/>
            <a:ext cx="3821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Bar chart showing the count of severe water consumption outliers by irrigation method.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84B5-6E16-12BE-05FB-52B48EC5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15620-2197-8110-62B3-5D7B241D7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A67937-86B4-EA5D-1CA1-A3714989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2A91854-2BA4-2C5A-F8B9-F9801C82F8B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2556F28-7239-E87D-7FCF-E6E4605E18E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466028-97C7-BB01-A91E-0F044A89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076320"/>
            <a:ext cx="9578798" cy="4388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947F25-150A-78FD-6FF5-6A1B3E10644B}"/>
              </a:ext>
            </a:extLst>
          </p:cNvPr>
          <p:cNvSpPr txBox="1"/>
          <p:nvPr/>
        </p:nvSpPr>
        <p:spPr>
          <a:xfrm>
            <a:off x="613753" y="5663682"/>
            <a:ext cx="8341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Top Row:</a:t>
            </a:r>
            <a:r>
              <a:rPr lang="en-IN" dirty="0"/>
              <a:t> Quantile-Quantile (Q-Q) plots for Yield distribution across Kharif, Rabi, and Zaid.</a:t>
            </a:r>
          </a:p>
          <a:p>
            <a:pPr lvl="0"/>
            <a:r>
              <a:rPr lang="en-IN" b="1" dirty="0"/>
              <a:t>Bottom Row:</a:t>
            </a:r>
            <a:r>
              <a:rPr lang="en-IN" dirty="0"/>
              <a:t> Q-Q plots for Net Profit distribution across Kharif, Rabi, and Zaid against theoretical normal quantiles.</a:t>
            </a:r>
          </a:p>
        </p:txBody>
      </p:sp>
    </p:spTree>
    <p:extLst>
      <p:ext uri="{BB962C8B-B14F-4D97-AF65-F5344CB8AC3E}">
        <p14:creationId xmlns:p14="http://schemas.microsoft.com/office/powerpoint/2010/main" val="35913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AE38F-1BCD-C225-58A1-04C090516C39}"/>
              </a:ext>
            </a:extLst>
          </p:cNvPr>
          <p:cNvSpPr txBox="1"/>
          <p:nvPr/>
        </p:nvSpPr>
        <p:spPr>
          <a:xfrm>
            <a:off x="675957" y="1364585"/>
            <a:ext cx="58181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</a:t>
            </a:r>
            <a:r>
              <a:rPr lang="en-IN" sz="2400" b="1" dirty="0"/>
              <a:t>Machine Learning models</a:t>
            </a:r>
            <a:r>
              <a:rPr lang="en-IN" sz="2400" dirty="0"/>
              <a:t> to predict crop yield and agricultural performance.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Build a </a:t>
            </a:r>
            <a:r>
              <a:rPr lang="en-IN" sz="2400" b="1" dirty="0"/>
              <a:t>Crop Recommendation System</a:t>
            </a:r>
            <a:r>
              <a:rPr lang="en-IN" sz="2400" dirty="0"/>
              <a:t> based on seasonal and environmental conditions.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</a:t>
            </a:r>
            <a:r>
              <a:rPr lang="en-IN" sz="2400" b="1" dirty="0"/>
              <a:t>real-time weather data</a:t>
            </a:r>
            <a:r>
              <a:rPr lang="en-IN" sz="2400" dirty="0"/>
              <a:t> for improved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66EF-0503-32CA-6E17-6B729472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745972-8760-7603-A21E-33C9A8AF57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21F5BF-6FAB-1E6F-F73B-F7BCDD69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1FB3B1B-9F53-6391-E645-B126D8D5CF9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0D57EDA-1250-9955-1401-260BCFD54AC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6F7E5-35E7-B54E-F8AC-A17A0B3CEAED}"/>
              </a:ext>
            </a:extLst>
          </p:cNvPr>
          <p:cNvSpPr txBox="1"/>
          <p:nvPr/>
        </p:nvSpPr>
        <p:spPr>
          <a:xfrm>
            <a:off x="692248" y="1275371"/>
            <a:ext cx="57178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b="1" dirty="0"/>
              <a:t>IoT sensors</a:t>
            </a:r>
            <a:r>
              <a:rPr lang="en-IN" sz="2400" dirty="0"/>
              <a:t> to monitor soil, water, and environmental conditions.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</a:t>
            </a:r>
            <a:r>
              <a:rPr lang="en-IN" sz="2400" b="1" dirty="0"/>
              <a:t>smart irrigation solutions</a:t>
            </a:r>
            <a:r>
              <a:rPr lang="en-IN" sz="2400" dirty="0"/>
              <a:t> to improve water efficiency.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</a:t>
            </a:r>
            <a:r>
              <a:rPr lang="en-IN" sz="2400" b="1" dirty="0"/>
              <a:t>GIS and satellite data</a:t>
            </a:r>
            <a:r>
              <a:rPr lang="en-IN" sz="2400" dirty="0"/>
              <a:t> for geographical agricultural analysis.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an </a:t>
            </a:r>
            <a:r>
              <a:rPr lang="en-IN" sz="2400" b="1" dirty="0"/>
              <a:t>agricultural decision-support system</a:t>
            </a:r>
            <a:r>
              <a:rPr lang="en-IN" sz="2400" dirty="0"/>
              <a:t> with actionable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401132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2022E-A92D-A0A8-BECB-0EBEB32C66EC}"/>
              </a:ext>
            </a:extLst>
          </p:cNvPr>
          <p:cNvSpPr txBox="1"/>
          <p:nvPr/>
        </p:nvSpPr>
        <p:spPr>
          <a:xfrm>
            <a:off x="954009" y="1692068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https://github.com/Manikanta-sai-kanusu/Seasonal-Agriculture-Performance-Analysis/tree/main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EC0A0-5F61-FA2C-E3B2-914CCDF6A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56" y="1464813"/>
            <a:ext cx="7349765" cy="52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061" y="3149742"/>
            <a:ext cx="3722914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879</TotalTime>
  <Words>739</Words>
  <Application>Microsoft Office PowerPoint</Application>
  <PresentationFormat>Widescreen</PresentationFormat>
  <Paragraphs>87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  </vt:lpstr>
      <vt:lpstr>Project Description  </vt:lpstr>
      <vt:lpstr>WHO ARE THE END USERS?</vt:lpstr>
      <vt:lpstr>Technology Used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Manikanta sai Kanusu</cp:lastModifiedBy>
  <cp:revision>138</cp:revision>
  <dcterms:created xsi:type="dcterms:W3CDTF">2021-07-11T13:13:15Z</dcterms:created>
  <dcterms:modified xsi:type="dcterms:W3CDTF">2026-09-10T05:45:46Z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